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1E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280160"/>
            <a:ext cx="10332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200" b="1">
                <a:solidFill>
                  <a:srgbClr val="2B2620"/>
                </a:solidFill>
                <a:latin typeface="Georgia"/>
              </a:rPr>
              <a:t>LipiLens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286000"/>
            <a:ext cx="10332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>
                <a:solidFill>
                  <a:srgbClr val="A87F2E"/>
                </a:solidFill>
                <a:latin typeface="Georgia"/>
              </a:rPr>
              <a:t>Ancient Scripts. New Possibilities.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200400"/>
            <a:ext cx="10332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2B2620"/>
                </a:solidFill>
                <a:latin typeface="Georgia"/>
              </a:rPr>
              <a:t>AI-assisted transcription of historical Modi manuscripts — with a measured answer to whether image restoration actually helps.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57200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2B2620"/>
                </a:solidFill>
                <a:latin typeface="Georgia"/>
              </a:rPr>
              <a:t>Chirayu Khot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02920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>
                <a:solidFill>
                  <a:srgbClr val="7A7264"/>
                </a:solidFill>
                <a:latin typeface="Georgia"/>
              </a:rPr>
              <a:t>Kolhapur Institute of Technology, Kolhapur  ·  (+ 3 co-authors &amp; faculty mentor — TBD)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1E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2860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A87F2E"/>
                </a:solidFill>
                <a:latin typeface="Georgia"/>
              </a:rPr>
              <a:t>01 ·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594360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2B2620"/>
                </a:solidFill>
                <a:latin typeface="Georgia"/>
              </a:rPr>
              <a:t>Millions of pages no machine can read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108813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 b="1">
                <a:solidFill>
                  <a:srgbClr val="2B2620"/>
                </a:solidFill>
                <a:latin typeface="Georgia"/>
              </a:rPr>
              <a:t>•  Modi script: </a:t>
            </a:r>
            <a:r>
              <a:rPr sz="1800" b="0">
                <a:solidFill>
                  <a:srgbClr val="2B2620"/>
                </a:solidFill>
                <a:latin typeface="Georgia"/>
              </a:rPr>
              <a:t>Maharashtra's administrative script, 13th c. to mid-20th c. — land, court and personal records survive only in Modi.</a:t>
            </a:r>
          </a:p>
          <a:p>
            <a:pPr>
              <a:spcAft>
                <a:spcPts val="800"/>
              </a:spcAft>
            </a:pPr>
            <a:r>
              <a:rPr sz="1800" b="1">
                <a:solidFill>
                  <a:srgbClr val="2B2620"/>
                </a:solidFill>
                <a:latin typeface="Georgia"/>
              </a:rPr>
              <a:t>•  Readers are disappearing, pages are degrading: </a:t>
            </a:r>
            <a:r>
              <a:rPr sz="1800" b="0">
                <a:solidFill>
                  <a:srgbClr val="2B2620"/>
                </a:solidFill>
                <a:latin typeface="Georgia"/>
              </a:rPr>
              <a:t>faded ink, stains, skew, bad photography.</a:t>
            </a:r>
          </a:p>
          <a:p>
            <a:pPr>
              <a:spcAft>
                <a:spcPts val="800"/>
              </a:spcAft>
            </a:pPr>
            <a:r>
              <a:rPr sz="1800" b="1">
                <a:solidFill>
                  <a:srgbClr val="2B2620"/>
                </a:solidFill>
                <a:latin typeface="Georgia"/>
              </a:rPr>
              <a:t>•  No mature OCR exists for Modi. </a:t>
            </a:r>
            <a:r>
              <a:rPr sz="1800" b="0">
                <a:solidFill>
                  <a:srgbClr val="2B2620"/>
                </a:solidFill>
                <a:latin typeface="Georgia"/>
              </a:rPr>
              <a:t>Vision-language models + LoRA adapters can draft transliterations — but a fluent draft can be entirely wrong.</a:t>
            </a:r>
          </a:p>
          <a:p>
            <a:pPr>
              <a:spcAft>
                <a:spcPts val="800"/>
              </a:spcAft>
            </a:pPr>
            <a:r>
              <a:rPr sz="1800" b="1">
                <a:solidFill>
                  <a:srgbClr val="2B2620"/>
                </a:solidFill>
                <a:latin typeface="Georgia"/>
              </a:rPr>
              <a:t>•  Two questions: </a:t>
            </a:r>
            <a:r>
              <a:rPr sz="1800" b="0">
                <a:solidFill>
                  <a:srgbClr val="2B2620"/>
                </a:solidFill>
                <a:latin typeface="Georgia"/>
              </a:rPr>
              <a:t>can we build a trustworthy human-in-the-loop pipeline, and does classical restoration help or hurt the model?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30936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7A7264"/>
                </a:solidFill>
                <a:latin typeface="Georgia"/>
              </a:rPr>
              <a:t>LipiLens · Kolhapur Institute of Technology, Kolhapur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30936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>
                <a:solidFill>
                  <a:srgbClr val="7A7264"/>
                </a:solidFill>
                <a:latin typeface="Georgia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1E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2860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A87F2E"/>
                </a:solidFill>
                <a:latin typeface="Georgia"/>
              </a:rPr>
              <a:t>02 · SYSTEM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594360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2B2620"/>
                </a:solidFill>
                <a:latin typeface="Georgia"/>
              </a:rPr>
              <a:t>LipiLens: upload → restore → transcribe → verify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828800"/>
            <a:ext cx="1920240" cy="14630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>
                <a:solidFill>
                  <a:srgbClr val="2B2620"/>
                </a:solidFill>
                <a:latin typeface="Georgia"/>
              </a:rPr>
              <a:t>Upload
(photo)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560320" y="2331720"/>
            <a:ext cx="365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>
                <a:solidFill>
                  <a:srgbClr val="A87F2E"/>
                </a:solidFill>
                <a:latin typeface="Georgia"/>
              </a:rPr>
              <a:t>→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926080" y="1828800"/>
            <a:ext cx="1920240" cy="14630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>
                <a:solidFill>
                  <a:srgbClr val="2B2620"/>
                </a:solidFill>
                <a:latin typeface="Georgia"/>
              </a:rPr>
              <a:t>Restore
(OpenCV, 7 configs)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846320" y="2331720"/>
            <a:ext cx="365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>
                <a:solidFill>
                  <a:srgbClr val="A87F2E"/>
                </a:solidFill>
                <a:latin typeface="Georgia"/>
              </a:rPr>
              <a:t>→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212080" y="1828800"/>
            <a:ext cx="1920240" cy="14630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>
                <a:solidFill>
                  <a:srgbClr val="2B2620"/>
                </a:solidFill>
                <a:latin typeface="Georgia"/>
              </a:rPr>
              <a:t>Transcribe
(Qwen2.5-VL-3B + Modi LoRA)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0" y="2331720"/>
            <a:ext cx="365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>
                <a:solidFill>
                  <a:srgbClr val="A87F2E"/>
                </a:solidFill>
                <a:latin typeface="Georgia"/>
              </a:rPr>
              <a:t>→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498079" y="1828800"/>
            <a:ext cx="1920240" cy="14630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>
                <a:solidFill>
                  <a:srgbClr val="2B2620"/>
                </a:solidFill>
                <a:latin typeface="Georgia"/>
              </a:rPr>
              <a:t>Verify
(human, explicit)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418319" y="2331720"/>
            <a:ext cx="365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>
                <a:solidFill>
                  <a:srgbClr val="A87F2E"/>
                </a:solidFill>
                <a:latin typeface="Georgia"/>
              </a:rP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784080" y="1828800"/>
            <a:ext cx="1920240" cy="14630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>
                <a:solidFill>
                  <a:srgbClr val="2B2620"/>
                </a:solidFill>
                <a:latin typeface="Georgia"/>
              </a:rPr>
              <a:t>Archive
+ search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840480"/>
            <a:ext cx="1088136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 b="1">
                <a:solidFill>
                  <a:srgbClr val="2B2620"/>
                </a:solidFill>
                <a:latin typeface="Georgia"/>
              </a:rPr>
              <a:t>•  AI-authoritative use is structurally impossible: </a:t>
            </a:r>
            <a:r>
              <a:rPr sz="1800" b="0">
                <a:solidFill>
                  <a:srgbClr val="2B2620"/>
                </a:solidFill>
                <a:latin typeface="Georgia"/>
              </a:rPr>
              <a:t>the AI draft is immutable; verification writes a separate field.</a:t>
            </a:r>
          </a:p>
          <a:p>
            <a:pPr>
              <a:spcAft>
                <a:spcPts val="800"/>
              </a:spcAft>
            </a:pPr>
            <a:r>
              <a:rPr sz="1800" b="1">
                <a:solidFill>
                  <a:srgbClr val="2B2620"/>
                </a:solidFill>
                <a:latin typeface="Georgia"/>
              </a:rPr>
              <a:t>•  Originals are never overwritten; </a:t>
            </a:r>
            <a:r>
              <a:rPr sz="1800" b="0">
                <a:solidFill>
                  <a:srgbClr val="2B2620"/>
                </a:solidFill>
                <a:latin typeface="Georgia"/>
              </a:rPr>
              <a:t>every restoration config is versioned for reproducibility.</a:t>
            </a:r>
          </a:p>
          <a:p>
            <a:pPr>
              <a:spcAft>
                <a:spcPts val="800"/>
              </a:spcAft>
            </a:pPr>
            <a:r>
              <a:rPr sz="1800" b="0">
                <a:solidFill>
                  <a:srgbClr val="2B2620"/>
                </a:solidFill>
                <a:latin typeface="Georgia"/>
              </a:rPr>
              <a:t>•  Live demo: upload → compare slider → edit → verify → library.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630936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7A7264"/>
                </a:solidFill>
                <a:latin typeface="Georgia"/>
              </a:rPr>
              <a:t>LipiLens · Kolhapur Institute of Technology, Kolhapur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7040" y="630936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>
                <a:solidFill>
                  <a:srgbClr val="7A7264"/>
                </a:solidFill>
                <a:latin typeface="Georgia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1E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2860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A87F2E"/>
                </a:solidFill>
                <a:latin typeface="Georgia"/>
              </a:rPr>
              <a:t>03 · EXPERIMENT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594360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2B2620"/>
                </a:solidFill>
                <a:latin typeface="Georgia"/>
              </a:rPr>
              <a:t>140 calls, 7 conditions, 20 pages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108813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 b="1">
                <a:solidFill>
                  <a:srgbClr val="2B2620"/>
                </a:solidFill>
                <a:latin typeface="Georgia"/>
              </a:rPr>
              <a:t>•  Data: </a:t>
            </a:r>
            <a:r>
              <a:rPr sz="1800" b="0">
                <a:solidFill>
                  <a:srgbClr val="2B2620"/>
                </a:solidFill>
                <a:latin typeface="Georgia"/>
              </a:rPr>
              <a:t>50 real MoDeTrans pages (IIT Roorkee, MIT) with expert Devanagari ground truth; sweep on 20, refs 60–205 chars.</a:t>
            </a:r>
          </a:p>
          <a:p>
            <a:pPr>
              <a:spcAft>
                <a:spcPts val="800"/>
              </a:spcAft>
            </a:pPr>
            <a:r>
              <a:rPr sz="1800" b="1">
                <a:solidFill>
                  <a:srgbClr val="2B2620"/>
                </a:solidFill>
                <a:latin typeface="Georgia"/>
              </a:rPr>
              <a:t>•  Model: </a:t>
            </a:r>
            <a:r>
              <a:rPr sz="1800" b="0">
                <a:solidFill>
                  <a:srgbClr val="2B2620"/>
                </a:solidFill>
                <a:latin typeface="Georgia"/>
              </a:rPr>
              <a:t>Qwen2.5-VL-3B + Modi LoRA (pinned revisions), official prompt, greedy decoding, Colab GPU.</a:t>
            </a:r>
          </a:p>
          <a:p>
            <a:pPr>
              <a:spcAft>
                <a:spcPts val="800"/>
              </a:spcAft>
            </a:pPr>
            <a:r>
              <a:rPr sz="1800" b="1">
                <a:solidFill>
                  <a:srgbClr val="2B2620"/>
                </a:solidFill>
                <a:latin typeface="Georgia"/>
              </a:rPr>
              <a:t>•  Conditions: </a:t>
            </a:r>
            <a:r>
              <a:rPr sz="1800" b="0">
                <a:solidFill>
                  <a:srgbClr val="2B2620"/>
                </a:solidFill>
                <a:latin typeface="Georgia"/>
              </a:rPr>
              <a:t>original (control) · grayscale · denoised · enhanced (CLAHE) · binarized (Otsu) · deskewed · full restoration.</a:t>
            </a:r>
          </a:p>
          <a:p>
            <a:pPr>
              <a:spcAft>
                <a:spcPts val="800"/>
              </a:spcAft>
            </a:pPr>
            <a:r>
              <a:rPr sz="1800" b="1">
                <a:solidFill>
                  <a:srgbClr val="2B2620"/>
                </a:solidFill>
                <a:latin typeface="Georgia"/>
              </a:rPr>
              <a:t>•  Metrics: </a:t>
            </a:r>
            <a:r>
              <a:rPr sz="1800" b="0">
                <a:solidFill>
                  <a:srgbClr val="2B2620"/>
                </a:solidFill>
                <a:latin typeface="Georgia"/>
              </a:rPr>
              <a:t>CER / WER vs ground truth; same model+prompt+decoding, only the input varies. Baseline n=50: CER 0.304.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30936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7A7264"/>
                </a:solidFill>
                <a:latin typeface="Georgia"/>
              </a:rPr>
              <a:t>LipiLens · Kolhapur Institute of Technology, Kolhapur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30936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>
                <a:solidFill>
                  <a:srgbClr val="7A7264"/>
                </a:solidFill>
                <a:latin typeface="Georgia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1E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2860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A87F2E"/>
                </a:solidFill>
                <a:latin typeface="Georgia"/>
              </a:rPr>
              <a:t>04 · 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594360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2B2620"/>
                </a:solidFill>
                <a:latin typeface="Georgia"/>
              </a:rPr>
              <a:t>On clean pages, send the original</a:t>
            </a:r>
          </a:p>
        </p:txBody>
      </p:sp>
      <p:pic>
        <p:nvPicPr>
          <p:cNvPr id="4" name="Picture 3" descr="sweep_mea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0"/>
            <a:ext cx="6035040" cy="215537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0" y="1645920"/>
            <a:ext cx="44805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 b="1">
                <a:solidFill>
                  <a:srgbClr val="2B2620"/>
                </a:solidFill>
                <a:latin typeface="Georgia"/>
              </a:rPr>
              <a:t>•  Grayscale = perfect no-op </a:t>
            </a:r>
            <a:r>
              <a:rPr sz="1800" b="0">
                <a:solidFill>
                  <a:srgbClr val="2B2620"/>
                </a:solidFill>
                <a:latin typeface="Georgia"/>
              </a:rPr>
              <a:t>(20/20 ties: the control that validates the rig).</a:t>
            </a:r>
          </a:p>
          <a:p>
            <a:pPr>
              <a:spcAft>
                <a:spcPts val="800"/>
              </a:spcAft>
            </a:pPr>
            <a:r>
              <a:rPr sz="1800" b="1">
                <a:solidFill>
                  <a:srgbClr val="B3261E"/>
                </a:solidFill>
                <a:latin typeface="Georgia"/>
              </a:rPr>
              <a:t>•  Binarization hurts: </a:t>
            </a:r>
            <a:r>
              <a:rPr sz="1800" b="0">
                <a:solidFill>
                  <a:srgbClr val="2B2620"/>
                </a:solidFill>
                <a:latin typeface="Georgia"/>
              </a:rPr>
              <a:t>17/20 worse, +0.038 CER — thresholding erases faint strokes.</a:t>
            </a:r>
          </a:p>
          <a:p>
            <a:pPr>
              <a:spcAft>
                <a:spcPts val="800"/>
              </a:spcAft>
            </a:pPr>
            <a:r>
              <a:rPr sz="1800" b="1">
                <a:solidFill>
                  <a:srgbClr val="B3261E"/>
                </a:solidFill>
                <a:latin typeface="Georgia"/>
              </a:rPr>
              <a:t>•  Full pipeline worst overall: </a:t>
            </a:r>
            <a:r>
              <a:rPr sz="1800" b="0">
                <a:solidFill>
                  <a:srgbClr val="2B2620"/>
                </a:solidFill>
                <a:latin typeface="Georgia"/>
              </a:rPr>
              <a:t>0.359 — stacked neutral stages compound into harm.</a:t>
            </a:r>
          </a:p>
          <a:p>
            <a:pPr>
              <a:spcAft>
                <a:spcPts val="800"/>
              </a:spcAft>
            </a:pPr>
            <a:r>
              <a:rPr sz="1800" b="0">
                <a:solidFill>
                  <a:srgbClr val="2B2620"/>
                </a:solidFill>
                <a:latin typeface="Georgia"/>
              </a:rPr>
              <a:t>•  Denoise / enhance / deskew: neutral within noise.</a:t>
            </a:r>
          </a:p>
          <a:p>
            <a:pPr>
              <a:spcAft>
                <a:spcPts val="800"/>
              </a:spcAft>
            </a:pPr>
            <a:r>
              <a:rPr sz="1800" b="1">
                <a:solidFill>
                  <a:srgbClr val="2B2620"/>
                </a:solidFill>
                <a:latin typeface="Georgia"/>
              </a:rPr>
              <a:t>•  Honest bounds: </a:t>
            </a:r>
            <a:r>
              <a:rPr sz="1800" b="0">
                <a:solidFill>
                  <a:srgbClr val="2B2620"/>
                </a:solidFill>
                <a:latin typeface="Georgia"/>
              </a:rPr>
              <a:t>n=20, descriptive only, possible train overlap, clean pages only.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30936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7A7264"/>
                </a:solidFill>
                <a:latin typeface="Georgia"/>
              </a:rPr>
              <a:t>LipiLens · Kolhapur Institute of Technology, Kolhapur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07040" y="630936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>
                <a:solidFill>
                  <a:srgbClr val="7A7264"/>
                </a:solidFill>
                <a:latin typeface="Georgia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1E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2860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A87F2E"/>
                </a:solidFill>
                <a:latin typeface="Georgia"/>
              </a:rPr>
              <a:t>05 · TAKEAWAY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594360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2B2620"/>
                </a:solidFill>
                <a:latin typeface="Georgia"/>
              </a:rPr>
              <a:t>Default to the original. Verify everything.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108813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 b="0">
                <a:solidFill>
                  <a:srgbClr val="2B2620"/>
                </a:solidFill>
                <a:latin typeface="Georgia"/>
              </a:rPr>
              <a:t>•  LipiLens works end-to-end and its study answers the question: preprocessing that destroys gray-level stroke detail hurts this VLM.</a:t>
            </a:r>
          </a:p>
          <a:p>
            <a:pPr>
              <a:spcAft>
                <a:spcPts val="800"/>
              </a:spcAft>
            </a:pPr>
            <a:r>
              <a:rPr sz="1800" b="1">
                <a:solidFill>
                  <a:srgbClr val="2B2620"/>
                </a:solidFill>
                <a:latin typeface="Georgia"/>
              </a:rPr>
              <a:t>•  Human verification is not a feature — </a:t>
            </a:r>
            <a:r>
              <a:rPr sz="1800" b="0">
                <a:solidFill>
                  <a:srgbClr val="2B2620"/>
                </a:solidFill>
                <a:latin typeface="Georgia"/>
              </a:rPr>
              <a:t>it is the architecture (see: the fluent hallucination on MT-003).</a:t>
            </a:r>
          </a:p>
          <a:p>
            <a:pPr>
              <a:spcAft>
                <a:spcPts val="800"/>
              </a:spcAft>
            </a:pPr>
            <a:r>
              <a:rPr sz="1800" b="0">
                <a:solidFill>
                  <a:srgbClr val="2B2620"/>
                </a:solidFill>
                <a:latin typeface="Georgia"/>
              </a:rPr>
              <a:t>•  Next: degraded-manuscript robustness, larger ground-truth set, local-GPU path.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937760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1E3A2F"/>
                </a:solidFill>
                <a:latin typeface="Georgia"/>
              </a:rPr>
              <a:t>Thank you.  Demo: upload → verify → library  ·  Evidence: showcase/GROUND_TRUTH.md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30936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7A7264"/>
                </a:solidFill>
                <a:latin typeface="Georgia"/>
              </a:rPr>
              <a:t>LipiLens · Kolhapur Institute of Technology, Kolhapur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07040" y="630936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>
                <a:solidFill>
                  <a:srgbClr val="7A7264"/>
                </a:solidFill>
                <a:latin typeface="Georgia"/>
              </a:rPr>
              <a:t>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